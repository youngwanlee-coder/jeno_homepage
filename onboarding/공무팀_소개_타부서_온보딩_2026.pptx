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22f4dc62-bfab-5b23-0df5-0c2712994ec0}">
          <p14:sldIdLst>
            <p14:sldId id="256"/>
          </p14:sldIdLst>
        </p14:section>
        <p14:section name="공무팀은 무엇을 하나" id="{ed20f55e-120a-2d3b-6883-c206150cec88}">
          <p14:sldIdLst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우리 부서와의 접점" id="{b8721a95-a60d-39df-bedd-300157dc37e4}">
          <p14:sldIdLst>
            <p14:sldId id="263"/>
            <p14:sldId id="264"/>
          </p14:sldIdLst>
        </p14:section>
        <p14:section name="요청·신고하는 법" id="{3037a880-4406-9739-96f9-f4e84e9e48f1}">
          <p14:sldIdLst>
            <p14:sldId id="265"/>
            <p14:sldId id="266"/>
          </p14:sldIdLst>
        </p14:section>
        <p14:section name="현장에서 함께 지킬 것" id="{a73ddd9c-0f0a-b758-19d1-fd19374b2dd5}">
          <p14:sldIdLst>
            <p14:sldId id="267"/>
            <p14:sldId id="268"/>
            <p14:sldId id="269"/>
          </p14:sldIdLst>
        </p14:section>
        <p14:section name="마무리" id="{a36df7d4-cfa5-cb1e-8413-b9cb41c06954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교육 대상: 생산·품질·물류·연구·경영지원 등 공무팀 외 신입사원. 소요 약 20분 + 질의응답.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연락처(내선·휴대폰)는 각 부서에 게시된 비상연락망 최신본 기준으로 안내.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요청 채널(작업요청서 양식/결재 시스템/메신저)은 성남공장 현행 방식으로 안내. 계획 건은 필요성 검토 → 3개사 견적 → 품의 → 발주 → 시공 → 준공 순서로 진행되어 시간이 걸림.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산업안전보건기준에 관한 규칙 제92조(정비 시 운전정지), 제93조(방호장치 해체 금지), 제301조 이하(전기), 산안법 제52조(근로자 작업중지권).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07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502920"/>
            <a:ext cx="1463040" cy="114117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7C5E"/>
          </a:solidFill>
          <a:ln w="12700">
            <a:solidFill>
              <a:srgbClr val="007C5E"/>
            </a:solidFill>
            <a:prstDash val="solid"/>
          </a:ln>
        </p:spPr>
      </p:sp>
      <p:pic>
        <p:nvPicPr>
          <p:cNvPr id="3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00584"/>
            <a:ext cx="585216" cy="457200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title" hasCustomPrompt="1"/>
          </p:nvPr>
        </p:nvSpPr>
        <p:spPr>
          <a:xfrm>
            <a:off x="365760" y="54864"/>
            <a:ext cx="768096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5" name="Text 1"/>
          <p:cNvSpPr/>
          <p:nvPr/>
        </p:nvSpPr>
        <p:spPr>
          <a:xfrm>
            <a:off x="36576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65"/>
                </a:solidFill>
              </a:rPr>
              <a:t>Sweet Balance  ·  타부서 신입사원 온보딩 — 공무팀 소개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B6B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B6B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74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공무팀을 소개합니다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타부서 신입사원 온보딩  |  공장이 멈추지 않게 하는 사람들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2026년  |  성남공장 공무팀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365760" y="54864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오늘 알아갈 4가지</a:t>
            </a:r>
            <a:endParaRPr lang="en-US" sz="2000" dirty="0"/>
          </a:p>
        </p:txBody>
      </p:sp>
      <p:sp>
        <p:nvSpPr>
          <p:cNvPr id="3" name="agenda-1"/>
          <p:cNvSpPr/>
          <p:nvPr/>
        </p:nvSpPr>
        <p:spPr>
          <a:xfrm>
            <a:off x="365760" y="1051560"/>
            <a:ext cx="1947672" cy="2743200"/>
          </a:xfrm>
          <a:prstGeom prst="roundRect">
            <a:avLst>
              <a:gd name="adj" fmla="val 3756"/>
            </a:avLst>
          </a:prstGeom>
          <a:solidFill>
            <a:srgbClr val="E8F3EF"/>
          </a:solidFill>
          <a:ln w="12700">
            <a:solidFill>
              <a:srgbClr val="E8F3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280160"/>
            <a:ext cx="640080" cy="640080"/>
          </a:xfrm>
          <a:prstGeom prst="ellipse">
            <a:avLst/>
          </a:prstGeom>
          <a:solidFill>
            <a:srgbClr val="007C5E"/>
          </a:solidFill>
          <a:ln w="12700">
            <a:solidFill>
              <a:srgbClr val="007C5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979" y="143377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07C5E"/>
                </a:solidFill>
              </a:rPr>
              <a:t>01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1488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</a:rPr>
              <a:t>공무팀은 무엇을 하나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28803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65"/>
                </a:solidFill>
              </a:rPr>
              <a:t>업무 범위 · 법적 책임 · 담당자</a:t>
            </a:r>
            <a:endParaRPr lang="en-US" sz="1100" dirty="0"/>
          </a:p>
        </p:txBody>
      </p:sp>
      <p:sp>
        <p:nvSpPr>
          <p:cNvPr id="9" name="agenda-2"/>
          <p:cNvSpPr/>
          <p:nvPr/>
        </p:nvSpPr>
        <p:spPr>
          <a:xfrm>
            <a:off x="2496312" y="1051560"/>
            <a:ext cx="1947672" cy="2743200"/>
          </a:xfrm>
          <a:prstGeom prst="roundRect">
            <a:avLst>
              <a:gd name="adj" fmla="val 3756"/>
            </a:avLst>
          </a:prstGeom>
          <a:solidFill>
            <a:srgbClr val="E8F3EF"/>
          </a:solidFill>
          <a:ln w="12700">
            <a:solidFill>
              <a:srgbClr val="E8F3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24912" y="1280160"/>
            <a:ext cx="640080" cy="640080"/>
          </a:xfrm>
          <a:prstGeom prst="ellipse">
            <a:avLst/>
          </a:prstGeom>
          <a:solidFill>
            <a:srgbClr val="007C5E"/>
          </a:solidFill>
          <a:ln w="12700">
            <a:solidFill>
              <a:srgbClr val="007C5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8531" y="143377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85032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07C5E"/>
                </a:solidFill>
              </a:rPr>
              <a:t>02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2724912" y="21488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</a:rPr>
              <a:t>우리 부서와의 접점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2724912" y="28803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65"/>
                </a:solidFill>
              </a:rPr>
              <a:t>부서별로 공무팀과 만나는 순간</a:t>
            </a:r>
            <a:endParaRPr lang="en-US" sz="1100" dirty="0"/>
          </a:p>
        </p:txBody>
      </p:sp>
      <p:sp>
        <p:nvSpPr>
          <p:cNvPr id="15" name="agenda-3"/>
          <p:cNvSpPr/>
          <p:nvPr/>
        </p:nvSpPr>
        <p:spPr>
          <a:xfrm>
            <a:off x="4626864" y="1051560"/>
            <a:ext cx="1947672" cy="2743200"/>
          </a:xfrm>
          <a:prstGeom prst="roundRect">
            <a:avLst>
              <a:gd name="adj" fmla="val 3756"/>
            </a:avLst>
          </a:prstGeom>
          <a:solidFill>
            <a:srgbClr val="E8F3EF"/>
          </a:solidFill>
          <a:ln w="12700">
            <a:solidFill>
              <a:srgbClr val="E8F3E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855464" y="1280160"/>
            <a:ext cx="640080" cy="640080"/>
          </a:xfrm>
          <a:prstGeom prst="ellipse">
            <a:avLst/>
          </a:prstGeom>
          <a:solidFill>
            <a:srgbClr val="007C5E"/>
          </a:solidFill>
          <a:ln w="12700">
            <a:solidFill>
              <a:srgbClr val="007C5E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9083" y="1433779"/>
            <a:ext cx="332842" cy="33284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815584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07C5E"/>
                </a:solidFill>
              </a:rPr>
              <a:t>03</a:t>
            </a:r>
            <a:endParaRPr lang="en-US" sz="2000" dirty="0"/>
          </a:p>
        </p:txBody>
      </p:sp>
      <p:sp>
        <p:nvSpPr>
          <p:cNvPr id="19" name="Text 14"/>
          <p:cNvSpPr txBox="1"/>
          <p:nvPr/>
        </p:nvSpPr>
        <p:spPr>
          <a:xfrm>
            <a:off x="4855464" y="21488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</a:rPr>
              <a:t>요청·신고하는 법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4855464" y="28803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65"/>
                </a:solidFill>
              </a:rPr>
              <a:t>작업요청 · 긴급 상황 첫 조치</a:t>
            </a:r>
            <a:endParaRPr lang="en-US" sz="1100" dirty="0"/>
          </a:p>
        </p:txBody>
      </p:sp>
      <p:sp>
        <p:nvSpPr>
          <p:cNvPr id="21" name="agenda-4"/>
          <p:cNvSpPr/>
          <p:nvPr/>
        </p:nvSpPr>
        <p:spPr>
          <a:xfrm>
            <a:off x="6757416" y="1051560"/>
            <a:ext cx="1947672" cy="2743200"/>
          </a:xfrm>
          <a:prstGeom prst="roundRect">
            <a:avLst>
              <a:gd name="adj" fmla="val 3756"/>
            </a:avLst>
          </a:prstGeom>
          <a:solidFill>
            <a:srgbClr val="E8F3EF"/>
          </a:solidFill>
          <a:ln w="12700">
            <a:solidFill>
              <a:srgbClr val="E8F3EF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986016" y="1280160"/>
            <a:ext cx="640080" cy="640080"/>
          </a:xfrm>
          <a:prstGeom prst="ellipse">
            <a:avLst/>
          </a:prstGeom>
          <a:solidFill>
            <a:srgbClr val="007C5E"/>
          </a:solidFill>
          <a:ln w="12700">
            <a:solidFill>
              <a:srgbClr val="007C5E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9635" y="1433779"/>
            <a:ext cx="332842" cy="33284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946136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07C5E"/>
                </a:solidFill>
              </a:rPr>
              <a:t>04</a:t>
            </a:r>
            <a:endParaRPr lang="en-US" sz="2000" dirty="0"/>
          </a:p>
        </p:txBody>
      </p:sp>
      <p:sp>
        <p:nvSpPr>
          <p:cNvPr id="25" name="Text 19"/>
          <p:cNvSpPr txBox="1"/>
          <p:nvPr/>
        </p:nvSpPr>
        <p:spPr>
          <a:xfrm>
            <a:off x="6986016" y="21488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</a:rPr>
              <a:t>현장에서 함께 지킬 것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6986016" y="28803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65"/>
                </a:solidFill>
              </a:rPr>
              <a:t>안전 · 위생 · 에너지 절감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365760" y="4023360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007C5E"/>
          </a:solidFill>
          <a:ln w="12700">
            <a:solidFill>
              <a:srgbClr val="007C5E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548640" y="40233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핵심 한 줄  —  설비가 이상하면 만지지 말고, 5분 안에 공무팀에 알린다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B6B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365760" y="54864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공무팀 = 공장의 '보이지 않는 인프라' 담당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9144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</a:rPr>
              <a:t>제품을 직접 만들지는 않지만, 제품을 만드는 데 필요한 전기·물·공기·냉기와 설비·건물을 책임집니다</a:t>
            </a:r>
            <a:endParaRPr lang="en-US" sz="1400" dirty="0"/>
          </a:p>
        </p:txBody>
      </p:sp>
      <p:sp>
        <p:nvSpPr>
          <p:cNvPr id="4" name="stat-1"/>
          <p:cNvSpPr/>
          <p:nvPr/>
        </p:nvSpPr>
        <p:spPr>
          <a:xfrm>
            <a:off x="365760" y="164592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E8F3EF"/>
          </a:solidFill>
          <a:ln w="12700">
            <a:solidFill>
              <a:srgbClr val="E8F3E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65760" y="17830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7C5E"/>
                </a:solidFill>
              </a:rPr>
              <a:t>24시간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6517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65"/>
                </a:solidFill>
              </a:rPr>
              <a:t>전기·용수·압축공기·냉기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B65"/>
                </a:solidFill>
              </a:rPr>
              <a:t>끊김 없이 공급</a:t>
            </a:r>
            <a:endParaRPr lang="en-US" sz="1200" dirty="0"/>
          </a:p>
        </p:txBody>
      </p:sp>
      <p:sp>
        <p:nvSpPr>
          <p:cNvPr id="7" name="stat-2"/>
          <p:cNvSpPr/>
          <p:nvPr/>
        </p:nvSpPr>
        <p:spPr>
          <a:xfrm>
            <a:off x="3200400" y="164592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E8F3EF"/>
          </a:solidFill>
          <a:ln w="12700">
            <a:solidFill>
              <a:srgbClr val="E8F3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00400" y="17830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7C5E"/>
                </a:solidFill>
              </a:rPr>
              <a:t>8개 분야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337560" y="26517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65"/>
                </a:solidFill>
              </a:rPr>
              <a:t>전기·소방·가스 등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B65"/>
                </a:solidFill>
              </a:rPr>
              <a:t>법정 안전관리자 선임</a:t>
            </a:r>
            <a:endParaRPr lang="en-US" sz="1200" dirty="0"/>
          </a:p>
        </p:txBody>
      </p:sp>
      <p:sp>
        <p:nvSpPr>
          <p:cNvPr id="10" name="stat-3"/>
          <p:cNvSpPr/>
          <p:nvPr/>
        </p:nvSpPr>
        <p:spPr>
          <a:xfrm>
            <a:off x="6035040" y="164592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E8F3EF"/>
          </a:solidFill>
          <a:ln w="12700">
            <a:solidFill>
              <a:srgbClr val="E8F3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35040" y="17830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7C5E"/>
                </a:solidFill>
              </a:rPr>
              <a:t>3명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26517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65"/>
                </a:solidFill>
              </a:rPr>
              <a:t>소수 정예 팀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B65"/>
                </a:solidFill>
              </a:rPr>
              <a:t>1인이 여러 분야 담당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" y="37490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C5E"/>
                </a:solidFill>
              </a:rPr>
              <a:t>공무팀 목표  </a:t>
            </a:r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설비 고장으로 인한 생산 손실 제로 · 법적 위반 0건 · 무재해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" y="4206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65"/>
                </a:solidFill>
              </a:rPr>
              <a:t>Core Value: 안전성 · 효율성 · 지속가능성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B6B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365760" y="54864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공무팀이 하는 일 — 6가지 영역</a:t>
            </a:r>
            <a:endParaRPr lang="en-US" sz="2000" dirty="0"/>
          </a:p>
        </p:txBody>
      </p:sp>
      <p:sp>
        <p:nvSpPr>
          <p:cNvPr id="3" name="job-1"/>
          <p:cNvSpPr/>
          <p:nvPr/>
        </p:nvSpPr>
        <p:spPr>
          <a:xfrm>
            <a:off x="365760" y="91440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E8F3EF"/>
          </a:solidFill>
          <a:ln w="12700">
            <a:solidFill>
              <a:srgbClr val="E8F3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097280"/>
            <a:ext cx="502920" cy="502920"/>
          </a:xfrm>
          <a:prstGeom prst="ellipse">
            <a:avLst/>
          </a:prstGeom>
          <a:solidFill>
            <a:srgbClr val="007C5E"/>
          </a:solidFill>
          <a:ln w="12700">
            <a:solidFill>
              <a:srgbClr val="007C5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1217981"/>
            <a:ext cx="261518" cy="2615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0972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C5E"/>
                </a:solidFill>
              </a:rPr>
              <a:t>유틸리티 운영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7373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전기 수변전 · 압축공기 · 용수 · 냉난방 · 가스 24시간 공급</a:t>
            </a:r>
            <a:endParaRPr lang="en-US" sz="1100" dirty="0"/>
          </a:p>
        </p:txBody>
      </p:sp>
      <p:sp>
        <p:nvSpPr>
          <p:cNvPr id="8" name="job-2"/>
          <p:cNvSpPr/>
          <p:nvPr/>
        </p:nvSpPr>
        <p:spPr>
          <a:xfrm>
            <a:off x="3200400" y="91440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E8F3EF"/>
          </a:solidFill>
          <a:ln w="12700">
            <a:solidFill>
              <a:srgbClr val="E8F3E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383280" y="1097280"/>
            <a:ext cx="502920" cy="502920"/>
          </a:xfrm>
          <a:prstGeom prst="ellipse">
            <a:avLst/>
          </a:prstGeom>
          <a:solidFill>
            <a:srgbClr val="007C5E"/>
          </a:solidFill>
          <a:ln w="12700">
            <a:solidFill>
              <a:srgbClr val="007C5E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3981" y="1217981"/>
            <a:ext cx="261518" cy="26151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23360" y="10972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C5E"/>
                </a:solidFill>
              </a:rPr>
              <a:t>냉장·냉동 관리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3383280" y="17373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냉동기·칠러 운전, 창고 온도 유지 (냉장 0~10℃ / 냉동 -18℃ 이하)</a:t>
            </a:r>
            <a:endParaRPr lang="en-US" sz="1100" dirty="0"/>
          </a:p>
        </p:txBody>
      </p:sp>
      <p:sp>
        <p:nvSpPr>
          <p:cNvPr id="13" name="job-3"/>
          <p:cNvSpPr/>
          <p:nvPr/>
        </p:nvSpPr>
        <p:spPr>
          <a:xfrm>
            <a:off x="6035040" y="91440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E8F3EF"/>
          </a:solidFill>
          <a:ln w="12700">
            <a:solidFill>
              <a:srgbClr val="E8F3E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17920" y="1097280"/>
            <a:ext cx="502920" cy="502920"/>
          </a:xfrm>
          <a:prstGeom prst="ellipse">
            <a:avLst/>
          </a:prstGeom>
          <a:solidFill>
            <a:srgbClr val="007C5E"/>
          </a:solidFill>
          <a:ln w="12700">
            <a:solidFill>
              <a:srgbClr val="007C5E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621" y="1217981"/>
            <a:ext cx="261518" cy="26151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858000" y="10972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C5E"/>
                </a:solidFill>
              </a:rPr>
              <a:t>설비 정비 지원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6217920" y="17373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생산설비 고장 수리, 예방정비(PM), 소모품 교체</a:t>
            </a:r>
            <a:endParaRPr lang="en-US" sz="1100" dirty="0"/>
          </a:p>
        </p:txBody>
      </p:sp>
      <p:sp>
        <p:nvSpPr>
          <p:cNvPr id="18" name="job-4"/>
          <p:cNvSpPr/>
          <p:nvPr/>
        </p:nvSpPr>
        <p:spPr>
          <a:xfrm>
            <a:off x="365760" y="2788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E8F3EF"/>
          </a:solidFill>
          <a:ln w="12700">
            <a:solidFill>
              <a:srgbClr val="E8F3E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48640" y="2971800"/>
            <a:ext cx="502920" cy="502920"/>
          </a:xfrm>
          <a:prstGeom prst="ellipse">
            <a:avLst/>
          </a:prstGeom>
          <a:solidFill>
            <a:srgbClr val="007C5E"/>
          </a:solidFill>
          <a:ln w="12700">
            <a:solidFill>
              <a:srgbClr val="007C5E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1" y="3092501"/>
            <a:ext cx="261518" cy="26151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188720" y="29718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C5E"/>
                </a:solidFill>
              </a:rPr>
              <a:t>시설물 관리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548640" y="36118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건물 · 배관 · 소방 · 조명 등 건축·기계 시설 보수</a:t>
            </a:r>
            <a:endParaRPr lang="en-US" sz="1100" dirty="0"/>
          </a:p>
        </p:txBody>
      </p:sp>
      <p:sp>
        <p:nvSpPr>
          <p:cNvPr id="23" name="job-5"/>
          <p:cNvSpPr/>
          <p:nvPr/>
        </p:nvSpPr>
        <p:spPr>
          <a:xfrm>
            <a:off x="3200400" y="2788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E8F3EF"/>
          </a:solidFill>
          <a:ln w="12700">
            <a:solidFill>
              <a:srgbClr val="E8F3EF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3383280" y="2971800"/>
            <a:ext cx="502920" cy="502920"/>
          </a:xfrm>
          <a:prstGeom prst="ellipse">
            <a:avLst/>
          </a:prstGeom>
          <a:solidFill>
            <a:srgbClr val="007C5E"/>
          </a:solidFill>
          <a:ln w="12700">
            <a:solidFill>
              <a:srgbClr val="007C5E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3981" y="3092501"/>
            <a:ext cx="261518" cy="26151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023360" y="29718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C5E"/>
                </a:solidFill>
              </a:rPr>
              <a:t>공사·구매</a:t>
            </a:r>
            <a:endParaRPr lang="en-US" sz="1400" dirty="0"/>
          </a:p>
        </p:txBody>
      </p:sp>
      <p:sp>
        <p:nvSpPr>
          <p:cNvPr id="27" name="Text 20"/>
          <p:cNvSpPr txBox="1"/>
          <p:nvPr/>
        </p:nvSpPr>
        <p:spPr>
          <a:xfrm>
            <a:off x="3383280" y="36118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라인 증설·레이아웃 변경 공사, 설비 견적·발주·감독</a:t>
            </a:r>
            <a:endParaRPr lang="en-US" sz="1100" dirty="0"/>
          </a:p>
        </p:txBody>
      </p:sp>
      <p:sp>
        <p:nvSpPr>
          <p:cNvPr id="28" name="job-6"/>
          <p:cNvSpPr/>
          <p:nvPr/>
        </p:nvSpPr>
        <p:spPr>
          <a:xfrm>
            <a:off x="6035040" y="2788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E8F3EF"/>
          </a:solidFill>
          <a:ln w="12700">
            <a:solidFill>
              <a:srgbClr val="E8F3EF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217920" y="2971800"/>
            <a:ext cx="502920" cy="502920"/>
          </a:xfrm>
          <a:prstGeom prst="ellipse">
            <a:avLst/>
          </a:prstGeom>
          <a:solidFill>
            <a:srgbClr val="007C5E"/>
          </a:solidFill>
          <a:ln w="12700">
            <a:solidFill>
              <a:srgbClr val="007C5E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8621" y="3092501"/>
            <a:ext cx="261518" cy="261518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858000" y="29718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C5E"/>
                </a:solidFill>
              </a:rPr>
              <a:t>환경·에너지</a:t>
            </a:r>
            <a:endParaRPr lang="en-US" sz="1400" dirty="0"/>
          </a:p>
        </p:txBody>
      </p:sp>
      <p:sp>
        <p:nvSpPr>
          <p:cNvPr id="32" name="Text 24"/>
          <p:cNvSpPr txBox="1"/>
          <p:nvPr/>
        </p:nvSpPr>
        <p:spPr>
          <a:xfrm>
            <a:off x="6217920" y="36118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폐수처리 · 집진기 · 스크러버 운영, 전력·에너지 절감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B6B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365760" y="54864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유틸리티가 멈추면 — 여러분 업무에 바로 영향</a:t>
            </a:r>
            <a:endParaRPr lang="en-US" sz="2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651760"/>
                <a:gridCol w="429768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C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관련 설비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C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멈추면 생기는 일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C5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C5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수변전설비 · 비상발전기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 라인 정지, 냉장·냉동창고 온도 상승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C5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압축공기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에어컴프레서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포장기 · 충진기 · 공압 실린더 정지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C5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냉기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냉동기 · 칠러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원료·완제품 온도 이탈 → 폐기 손실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C5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용수 · 스팀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급수 · 보일러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세척·가열 공정 중단, 위생 관리 차질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C5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환경설비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폐수처리 · 집진 · 스크러버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배출 기준 초과 시 행정처분 → 생산 제한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365760" y="3794760"/>
            <a:ext cx="8412480" cy="731520"/>
          </a:xfrm>
          <a:prstGeom prst="roundRect">
            <a:avLst>
              <a:gd name="adj" fmla="val 10000"/>
            </a:avLst>
          </a:prstGeom>
          <a:solidFill>
            <a:srgbClr val="E8F3EF"/>
          </a:solidFill>
          <a:ln w="12700">
            <a:solidFill>
              <a:srgbClr val="E8F3E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3794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그래서 공무팀은 </a:t>
            </a:r>
            <a:pPr indent="0" marL="0">
              <a:buNone/>
            </a:pPr>
            <a:r>
              <a:rPr lang="en-US" sz="1200" b="1" dirty="0">
                <a:solidFill>
                  <a:srgbClr val="007C5E"/>
                </a:solidFill>
              </a:rPr>
              <a:t>고장 후 수리(BM)보다 고장 전 예방(PM)</a:t>
            </a:r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에 집중합니다. 이상 징후(소음·냄새·온도 알람)를 먼저 발견하는 사람은 대부분 현장의 여러분입니다.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B6B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365760" y="54864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공장이 '합법적으로' 돌아가게 — 8개 법정 안전관리 분야</a:t>
            </a:r>
            <a:endParaRPr lang="en-US" sz="2000" dirty="0"/>
          </a:p>
        </p:txBody>
      </p:sp>
      <p:sp>
        <p:nvSpPr>
          <p:cNvPr id="3" name="legal-1"/>
          <p:cNvSpPr/>
          <p:nvPr/>
        </p:nvSpPr>
        <p:spPr>
          <a:xfrm>
            <a:off x="365760" y="914400"/>
            <a:ext cx="1143000" cy="1097280"/>
          </a:xfrm>
          <a:prstGeom prst="roundRect">
            <a:avLst>
              <a:gd name="adj" fmla="val 6667"/>
            </a:avLst>
          </a:prstGeom>
          <a:solidFill>
            <a:srgbClr val="E8F3EF"/>
          </a:solidFill>
          <a:ln w="12700">
            <a:solidFill>
              <a:srgbClr val="E8F3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8660" y="1051560"/>
            <a:ext cx="457200" cy="457200"/>
          </a:xfrm>
          <a:prstGeom prst="ellipse">
            <a:avLst/>
          </a:prstGeom>
          <a:solidFill>
            <a:srgbClr val="007C5E"/>
          </a:solidFill>
          <a:ln w="12700">
            <a:solidFill>
              <a:srgbClr val="007C5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" y="1161288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11480" y="157276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전기</a:t>
            </a:r>
            <a:endParaRPr lang="en-US" sz="1100" dirty="0"/>
          </a:p>
        </p:txBody>
      </p:sp>
      <p:sp>
        <p:nvSpPr>
          <p:cNvPr id="7" name="legal-2"/>
          <p:cNvSpPr/>
          <p:nvPr/>
        </p:nvSpPr>
        <p:spPr>
          <a:xfrm>
            <a:off x="1645920" y="914400"/>
            <a:ext cx="1143000" cy="1097280"/>
          </a:xfrm>
          <a:prstGeom prst="roundRect">
            <a:avLst>
              <a:gd name="adj" fmla="val 6667"/>
            </a:avLst>
          </a:prstGeom>
          <a:solidFill>
            <a:srgbClr val="E8F3EF"/>
          </a:solidFill>
          <a:ln w="12700">
            <a:solidFill>
              <a:srgbClr val="E8F3E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988820" y="1051560"/>
            <a:ext cx="457200" cy="457200"/>
          </a:xfrm>
          <a:prstGeom prst="ellipse">
            <a:avLst/>
          </a:prstGeom>
          <a:solidFill>
            <a:srgbClr val="007C5E"/>
          </a:solidFill>
          <a:ln w="12700">
            <a:solidFill>
              <a:srgbClr val="007C5E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8548" y="1161288"/>
            <a:ext cx="237744" cy="23774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91640" y="157276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소방</a:t>
            </a:r>
            <a:endParaRPr lang="en-US" sz="1100" dirty="0"/>
          </a:p>
        </p:txBody>
      </p:sp>
      <p:sp>
        <p:nvSpPr>
          <p:cNvPr id="11" name="legal-3"/>
          <p:cNvSpPr/>
          <p:nvPr/>
        </p:nvSpPr>
        <p:spPr>
          <a:xfrm>
            <a:off x="2926080" y="914400"/>
            <a:ext cx="1143000" cy="1097280"/>
          </a:xfrm>
          <a:prstGeom prst="roundRect">
            <a:avLst>
              <a:gd name="adj" fmla="val 6667"/>
            </a:avLst>
          </a:prstGeom>
          <a:solidFill>
            <a:srgbClr val="E8F3EF"/>
          </a:solidFill>
          <a:ln w="12700">
            <a:solidFill>
              <a:srgbClr val="E8F3EF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268980" y="1051560"/>
            <a:ext cx="457200" cy="457200"/>
          </a:xfrm>
          <a:prstGeom prst="ellipse">
            <a:avLst/>
          </a:prstGeom>
          <a:solidFill>
            <a:srgbClr val="007C5E"/>
          </a:solidFill>
          <a:ln w="12700">
            <a:solidFill>
              <a:srgbClr val="007C5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8708" y="116128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971800" y="157276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가스</a:t>
            </a:r>
            <a:endParaRPr lang="en-US" sz="1100" dirty="0"/>
          </a:p>
        </p:txBody>
      </p:sp>
      <p:sp>
        <p:nvSpPr>
          <p:cNvPr id="15" name="legal-4"/>
          <p:cNvSpPr/>
          <p:nvPr/>
        </p:nvSpPr>
        <p:spPr>
          <a:xfrm>
            <a:off x="4206240" y="914400"/>
            <a:ext cx="1143000" cy="1097280"/>
          </a:xfrm>
          <a:prstGeom prst="roundRect">
            <a:avLst>
              <a:gd name="adj" fmla="val 6667"/>
            </a:avLst>
          </a:prstGeom>
          <a:solidFill>
            <a:srgbClr val="E8F3EF"/>
          </a:solidFill>
          <a:ln w="12700">
            <a:solidFill>
              <a:srgbClr val="E8F3EF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549140" y="1051560"/>
            <a:ext cx="457200" cy="457200"/>
          </a:xfrm>
          <a:prstGeom prst="ellipse">
            <a:avLst/>
          </a:prstGeom>
          <a:solidFill>
            <a:srgbClr val="007C5E"/>
          </a:solidFill>
          <a:ln w="12700">
            <a:solidFill>
              <a:srgbClr val="007C5E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8868" y="116128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4251960" y="157276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냉동시설</a:t>
            </a:r>
            <a:endParaRPr lang="en-US" sz="1100" dirty="0"/>
          </a:p>
        </p:txBody>
      </p:sp>
      <p:sp>
        <p:nvSpPr>
          <p:cNvPr id="19" name="legal-5"/>
          <p:cNvSpPr/>
          <p:nvPr/>
        </p:nvSpPr>
        <p:spPr>
          <a:xfrm>
            <a:off x="365760" y="2148840"/>
            <a:ext cx="1143000" cy="1097280"/>
          </a:xfrm>
          <a:prstGeom prst="roundRect">
            <a:avLst>
              <a:gd name="adj" fmla="val 6667"/>
            </a:avLst>
          </a:prstGeom>
          <a:solidFill>
            <a:srgbClr val="E8F3EF"/>
          </a:solidFill>
          <a:ln w="12700">
            <a:solidFill>
              <a:srgbClr val="E8F3EF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708660" y="2286000"/>
            <a:ext cx="457200" cy="457200"/>
          </a:xfrm>
          <a:prstGeom prst="ellipse">
            <a:avLst/>
          </a:prstGeom>
          <a:solidFill>
            <a:srgbClr val="007C5E"/>
          </a:solidFill>
          <a:ln w="12700">
            <a:solidFill>
              <a:srgbClr val="007C5E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88" y="2395728"/>
            <a:ext cx="237744" cy="23774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411480" y="280720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승강기</a:t>
            </a:r>
            <a:endParaRPr lang="en-US" sz="1100" dirty="0"/>
          </a:p>
        </p:txBody>
      </p:sp>
      <p:sp>
        <p:nvSpPr>
          <p:cNvPr id="23" name="legal-6"/>
          <p:cNvSpPr/>
          <p:nvPr/>
        </p:nvSpPr>
        <p:spPr>
          <a:xfrm>
            <a:off x="1645920" y="2148840"/>
            <a:ext cx="1143000" cy="1097280"/>
          </a:xfrm>
          <a:prstGeom prst="roundRect">
            <a:avLst>
              <a:gd name="adj" fmla="val 6667"/>
            </a:avLst>
          </a:prstGeom>
          <a:solidFill>
            <a:srgbClr val="E8F3EF"/>
          </a:solidFill>
          <a:ln w="12700">
            <a:solidFill>
              <a:srgbClr val="E8F3EF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1988820" y="2286000"/>
            <a:ext cx="457200" cy="457200"/>
          </a:xfrm>
          <a:prstGeom prst="ellipse">
            <a:avLst/>
          </a:prstGeom>
          <a:solidFill>
            <a:srgbClr val="007C5E"/>
          </a:solidFill>
          <a:ln w="12700">
            <a:solidFill>
              <a:srgbClr val="007C5E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8548" y="2395728"/>
            <a:ext cx="237744" cy="237744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1691640" y="280720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환경(대기·수질)</a:t>
            </a:r>
            <a:endParaRPr lang="en-US" sz="1100" dirty="0"/>
          </a:p>
        </p:txBody>
      </p:sp>
      <p:sp>
        <p:nvSpPr>
          <p:cNvPr id="27" name="legal-7"/>
          <p:cNvSpPr/>
          <p:nvPr/>
        </p:nvSpPr>
        <p:spPr>
          <a:xfrm>
            <a:off x="2926080" y="2148840"/>
            <a:ext cx="1143000" cy="1097280"/>
          </a:xfrm>
          <a:prstGeom prst="roundRect">
            <a:avLst>
              <a:gd name="adj" fmla="val 6667"/>
            </a:avLst>
          </a:prstGeom>
          <a:solidFill>
            <a:srgbClr val="E8F3EF"/>
          </a:solidFill>
          <a:ln w="12700">
            <a:solidFill>
              <a:srgbClr val="E8F3EF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3268980" y="2286000"/>
            <a:ext cx="457200" cy="457200"/>
          </a:xfrm>
          <a:prstGeom prst="ellipse">
            <a:avLst/>
          </a:prstGeom>
          <a:solidFill>
            <a:srgbClr val="007C5E"/>
          </a:solidFill>
          <a:ln w="12700">
            <a:solidFill>
              <a:srgbClr val="007C5E"/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78708" y="2395728"/>
            <a:ext cx="237744" cy="237744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2971800" y="280720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기계설비</a:t>
            </a:r>
            <a:endParaRPr lang="en-US" sz="1100" dirty="0"/>
          </a:p>
        </p:txBody>
      </p:sp>
      <p:sp>
        <p:nvSpPr>
          <p:cNvPr id="31" name="legal-8"/>
          <p:cNvSpPr/>
          <p:nvPr/>
        </p:nvSpPr>
        <p:spPr>
          <a:xfrm>
            <a:off x="4206240" y="2148840"/>
            <a:ext cx="1143000" cy="1097280"/>
          </a:xfrm>
          <a:prstGeom prst="roundRect">
            <a:avLst>
              <a:gd name="adj" fmla="val 6667"/>
            </a:avLst>
          </a:prstGeom>
          <a:solidFill>
            <a:srgbClr val="E8F3EF"/>
          </a:solidFill>
          <a:ln w="12700">
            <a:solidFill>
              <a:srgbClr val="E8F3EF"/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4549140" y="2286000"/>
            <a:ext cx="457200" cy="457200"/>
          </a:xfrm>
          <a:prstGeom prst="ellipse">
            <a:avLst/>
          </a:prstGeom>
          <a:solidFill>
            <a:srgbClr val="007C5E"/>
          </a:solidFill>
          <a:ln w="12700">
            <a:solidFill>
              <a:srgbClr val="007C5E"/>
            </a:solidFill>
            <a:prstDash val="solid"/>
          </a:ln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58868" y="2395728"/>
            <a:ext cx="237744" cy="237744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4251960" y="280720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산업안전</a:t>
            </a:r>
            <a:endParaRPr lang="en-US" sz="1100" dirty="0"/>
          </a:p>
        </p:txBody>
      </p:sp>
      <p:sp>
        <p:nvSpPr>
          <p:cNvPr id="35" name="Text 25"/>
          <p:cNvSpPr txBox="1"/>
          <p:nvPr/>
        </p:nvSpPr>
        <p:spPr>
          <a:xfrm>
            <a:off x="365760" y="347472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65"/>
                </a:solidFill>
              </a:rPr>
              <a:t>각 분야마다 자격을 갖춘 공무팀원이 법정 선임자로 지정 → 정기 점검·검사·신고를 책임집니다. 누락 시 과태료·행정처분 대상</a:t>
            </a:r>
            <a:endParaRPr lang="en-US" sz="1100" dirty="0"/>
          </a:p>
        </p:txBody>
      </p:sp>
      <p:sp>
        <p:nvSpPr>
          <p:cNvPr id="36" name="legal-ask"/>
          <p:cNvSpPr/>
          <p:nvPr/>
        </p:nvSpPr>
        <p:spPr>
          <a:xfrm>
            <a:off x="5623560" y="914400"/>
            <a:ext cx="3154680" cy="3383280"/>
          </a:xfrm>
          <a:prstGeom prst="roundRect">
            <a:avLst>
              <a:gd name="adj" fmla="val 2319"/>
            </a:avLst>
          </a:prstGeom>
          <a:solidFill>
            <a:srgbClr val="007C5E"/>
          </a:solidFill>
          <a:ln w="12700">
            <a:solidFill>
              <a:srgbClr val="007C5E"/>
            </a:solidFill>
            <a:prstDash val="solid"/>
          </a:ln>
        </p:spPr>
      </p:sp>
      <p:sp>
        <p:nvSpPr>
          <p:cNvPr id="37" name="Text 27"/>
          <p:cNvSpPr txBox="1"/>
          <p:nvPr/>
        </p:nvSpPr>
        <p:spPr>
          <a:xfrm>
            <a:off x="5806440" y="10515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여러분께 부탁드립니다</a:t>
            </a:r>
            <a:endParaRPr lang="en-US" sz="1400" dirty="0"/>
          </a:p>
        </p:txBody>
      </p:sp>
      <p:sp>
        <p:nvSpPr>
          <p:cNvPr id="38" name="Text 28"/>
          <p:cNvSpPr txBox="1"/>
          <p:nvPr/>
        </p:nvSpPr>
        <p:spPr>
          <a:xfrm>
            <a:off x="5806440" y="1508760"/>
            <a:ext cx="2834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소방훈련 · 비상대응 훈련 (연 2회) 전원 참여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법정 점검 · 정전 작업 일정 공지 시 생산·출입 일정 협조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소화기 · 소화전 · 분전반 · 비상구 앞 물건 적치 금지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외부 점검기관 방문 시 공무팀 안내 따르기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B6B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365760" y="54864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공무팀 사람들 — 이럴 땐 이 분께</a:t>
            </a:r>
            <a:endParaRPr lang="en-US" sz="2000" dirty="0"/>
          </a:p>
        </p:txBody>
      </p:sp>
      <p:sp>
        <p:nvSpPr>
          <p:cNvPr id="3" name="person-1"/>
          <p:cNvSpPr/>
          <p:nvPr/>
        </p:nvSpPr>
        <p:spPr>
          <a:xfrm>
            <a:off x="365760" y="914400"/>
            <a:ext cx="2651760" cy="3063240"/>
          </a:xfrm>
          <a:prstGeom prst="roundRect">
            <a:avLst>
              <a:gd name="adj" fmla="val 2759"/>
            </a:avLst>
          </a:prstGeom>
          <a:solidFill>
            <a:srgbClr val="E8F3EF"/>
          </a:solidFill>
          <a:ln w="12700">
            <a:solidFill>
              <a:srgbClr val="E8F3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097280"/>
            <a:ext cx="548640" cy="548640"/>
          </a:xfrm>
          <a:prstGeom prst="ellipse">
            <a:avLst/>
          </a:prstGeom>
          <a:solidFill>
            <a:srgbClr val="007C5E"/>
          </a:solidFill>
          <a:ln w="12700">
            <a:solidFill>
              <a:srgbClr val="007C5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314" y="1228954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07899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C5E"/>
                </a:solidFill>
              </a:rPr>
              <a:t>이윤관 팀장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138988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5"/>
                </a:solidFill>
              </a:rPr>
              <a:t>시설관리 총괄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874520"/>
            <a:ext cx="2331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</a:rPr>
              <a:t>전기 · 피크전력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</a:rPr>
              <a:t>유틸리티 총괄 (공기·용수·냉난방·가스)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</a:rPr>
              <a:t>환경 (폐수·대기) · 승강기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</a:rPr>
              <a:t>정전·대형 고장 복구 지휘</a:t>
            </a:r>
            <a:endParaRPr lang="en-US" sz="1200" dirty="0"/>
          </a:p>
        </p:txBody>
      </p:sp>
      <p:sp>
        <p:nvSpPr>
          <p:cNvPr id="9" name="person-2"/>
          <p:cNvSpPr/>
          <p:nvPr/>
        </p:nvSpPr>
        <p:spPr>
          <a:xfrm>
            <a:off x="3200400" y="914400"/>
            <a:ext cx="2651760" cy="3063240"/>
          </a:xfrm>
          <a:prstGeom prst="roundRect">
            <a:avLst>
              <a:gd name="adj" fmla="val 2759"/>
            </a:avLst>
          </a:prstGeom>
          <a:solidFill>
            <a:srgbClr val="E8F3EF"/>
          </a:solidFill>
          <a:ln w="12700">
            <a:solidFill>
              <a:srgbClr val="E8F3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383280" y="1097280"/>
            <a:ext cx="548640" cy="548640"/>
          </a:xfrm>
          <a:prstGeom prst="ellipse">
            <a:avLst/>
          </a:prstGeom>
          <a:solidFill>
            <a:srgbClr val="007C5E"/>
          </a:solidFill>
          <a:ln w="12700">
            <a:solidFill>
              <a:srgbClr val="007C5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4954" y="122895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069080" y="107899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C5E"/>
                </a:solidFill>
              </a:rPr>
              <a:t>문제민 파트장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069080" y="138988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5"/>
                </a:solidFill>
              </a:rPr>
              <a:t>기계설비 · 건축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3383280" y="1874520"/>
            <a:ext cx="2331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</a:rPr>
              <a:t>건물 · 배관 · 기계설비 보수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</a:rPr>
              <a:t>소방 · 냉동설비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</a:rPr>
              <a:t>산업안전 · 위험성평가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</a:rPr>
              <a:t>누수 · 시설 파손</a:t>
            </a:r>
            <a:endParaRPr lang="en-US" sz="1200" dirty="0"/>
          </a:p>
        </p:txBody>
      </p:sp>
      <p:sp>
        <p:nvSpPr>
          <p:cNvPr id="15" name="person-3"/>
          <p:cNvSpPr/>
          <p:nvPr/>
        </p:nvSpPr>
        <p:spPr>
          <a:xfrm>
            <a:off x="6035040" y="914400"/>
            <a:ext cx="2651760" cy="3063240"/>
          </a:xfrm>
          <a:prstGeom prst="roundRect">
            <a:avLst>
              <a:gd name="adj" fmla="val 2759"/>
            </a:avLst>
          </a:prstGeom>
          <a:solidFill>
            <a:srgbClr val="E8F3EF"/>
          </a:solidFill>
          <a:ln w="12700">
            <a:solidFill>
              <a:srgbClr val="E8F3E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217920" y="1097280"/>
            <a:ext cx="548640" cy="548640"/>
          </a:xfrm>
          <a:prstGeom prst="ellipse">
            <a:avLst/>
          </a:prstGeom>
          <a:solidFill>
            <a:srgbClr val="007C5E"/>
          </a:solidFill>
          <a:ln w="12700">
            <a:solidFill>
              <a:srgbClr val="007C5E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9594" y="1228954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903720" y="107899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C5E"/>
                </a:solidFill>
              </a:rPr>
              <a:t>박용중 프로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903720" y="138988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5"/>
                </a:solidFill>
              </a:rPr>
              <a:t>전기 · 생산설비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6217920" y="1874520"/>
            <a:ext cx="2331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</a:rPr>
              <a:t>생산설비 고장 · 정비 지원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</a:rPr>
              <a:t>전기 설비 · 시설 안전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</a:rPr>
              <a:t>시설 일상 점검 · 이상 조치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</a:rPr>
              <a:t>공사 진행 · 감독 보조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365760" y="411480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007C5E"/>
          </a:solidFill>
          <a:ln w="12700">
            <a:solidFill>
              <a:srgbClr val="007C5E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548640" y="41148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담당자를 모르겠다면?  공무팀 사무실 또는 누구에게든 먼저 연락 — 팀 내에서 바로 연결합니다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B6B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365760" y="54864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우리 부서와 공무팀이 만나는 순간</a:t>
            </a:r>
            <a:endParaRPr lang="en-US" sz="2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023360"/>
                <a:gridCol w="29260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C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공무팀이 지원하는 것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C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부서에 부탁드리는 것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C5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C5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생산팀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설비 고장 수리 · 예방정비(PM) · 라인 개선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이상 즉시 신고, PM 시간 확보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C5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품질팀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창고 온도 관리 · 수리 후 위생 확인 · HACCP 시설 기준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작업 후 라인 인계 확인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C5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물류·창고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냉장·냉동창고 · 도어 · 도크 설비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창고 문 개방 최소화, 알람 즉시 공유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C5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연구개발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신제품용 설비·유틸리티 검토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설비 요구조건 조기 공유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C5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경영지원·구매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견적 · 품의 · 발주 · 지급 · 예산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품의·계약 진행 협조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C5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 부서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냉난방 · 조명 · 누수 · 소방훈련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훈련 참여, 에너지 절감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B6B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365760" y="54864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2026년 주요 프로젝트 — 여러분 부서에도 변화가 옵니다</a:t>
            </a:r>
            <a:endParaRPr lang="en-US" sz="2000" dirty="0"/>
          </a:p>
        </p:txBody>
      </p:sp>
      <p:sp>
        <p:nvSpPr>
          <p:cNvPr id="3" name="project-1"/>
          <p:cNvSpPr/>
          <p:nvPr/>
        </p:nvSpPr>
        <p:spPr>
          <a:xfrm>
            <a:off x="365760" y="914400"/>
            <a:ext cx="2651760" cy="3611880"/>
          </a:xfrm>
          <a:prstGeom prst="roundRect">
            <a:avLst>
              <a:gd name="adj" fmla="val 2759"/>
            </a:avLst>
          </a:prstGeom>
          <a:solidFill>
            <a:srgbClr val="E8F3EF"/>
          </a:solidFill>
          <a:ln w="12700">
            <a:solidFill>
              <a:srgbClr val="E8F3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097280"/>
            <a:ext cx="548640" cy="548640"/>
          </a:xfrm>
          <a:prstGeom prst="ellipse">
            <a:avLst/>
          </a:prstGeom>
          <a:solidFill>
            <a:srgbClr val="007C5E"/>
          </a:solidFill>
          <a:ln w="12700">
            <a:solidFill>
              <a:srgbClr val="007C5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314" y="1228954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0972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C5E"/>
                </a:solidFill>
              </a:rPr>
              <a:t>3층 생산라인 증설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82880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</a:rPr>
              <a:t>생산 물량 확대 + 냉장·냉동창고 증설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</a:rPr>
              <a:t>설계 단계에서 부서 의견 수렴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2920" y="3246120"/>
            <a:ext cx="237744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CFE3D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333756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C5E"/>
                </a:solidFill>
              </a:rPr>
              <a:t>여러분에게는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공사 기간 소음·출입 통제 구역 발생</a:t>
            </a:r>
            <a:endParaRPr lang="en-US" sz="1100" dirty="0"/>
          </a:p>
        </p:txBody>
      </p:sp>
      <p:sp>
        <p:nvSpPr>
          <p:cNvPr id="10" name="project-2"/>
          <p:cNvSpPr/>
          <p:nvPr/>
        </p:nvSpPr>
        <p:spPr>
          <a:xfrm>
            <a:off x="3200400" y="914400"/>
            <a:ext cx="2651760" cy="3611880"/>
          </a:xfrm>
          <a:prstGeom prst="roundRect">
            <a:avLst>
              <a:gd name="adj" fmla="val 2759"/>
            </a:avLst>
          </a:prstGeom>
          <a:solidFill>
            <a:srgbClr val="E8F3EF"/>
          </a:solidFill>
          <a:ln w="12700">
            <a:solidFill>
              <a:srgbClr val="E8F3E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383280" y="1097280"/>
            <a:ext cx="548640" cy="548640"/>
          </a:xfrm>
          <a:prstGeom prst="ellipse">
            <a:avLst/>
          </a:prstGeom>
          <a:solidFill>
            <a:srgbClr val="007C5E"/>
          </a:solidFill>
          <a:ln w="12700">
            <a:solidFill>
              <a:srgbClr val="007C5E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4954" y="1228954"/>
            <a:ext cx="285293" cy="28529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069080" y="10972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C5E"/>
                </a:solidFill>
              </a:rPr>
              <a:t>냉동설비 단계 교체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3383280" y="182880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</a:rPr>
              <a:t>노후 칠러·냉동기 교체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</a:rPr>
              <a:t>2대 중 1대 운전으로 중단 최소화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3337560" y="3246120"/>
            <a:ext cx="237744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CFE3DB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3474720" y="333756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C5E"/>
                </a:solidFill>
              </a:rPr>
              <a:t>여러분에게는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교체 일정에 맞춘 창고 재고 조정 협의</a:t>
            </a:r>
            <a:endParaRPr lang="en-US" sz="1100" dirty="0"/>
          </a:p>
        </p:txBody>
      </p:sp>
      <p:sp>
        <p:nvSpPr>
          <p:cNvPr id="17" name="project-3"/>
          <p:cNvSpPr/>
          <p:nvPr/>
        </p:nvSpPr>
        <p:spPr>
          <a:xfrm>
            <a:off x="6035040" y="914400"/>
            <a:ext cx="2651760" cy="3611880"/>
          </a:xfrm>
          <a:prstGeom prst="roundRect">
            <a:avLst>
              <a:gd name="adj" fmla="val 2759"/>
            </a:avLst>
          </a:prstGeom>
          <a:solidFill>
            <a:srgbClr val="E8F3EF"/>
          </a:solidFill>
          <a:ln w="12700">
            <a:solidFill>
              <a:srgbClr val="E8F3EF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217920" y="1097280"/>
            <a:ext cx="548640" cy="548640"/>
          </a:xfrm>
          <a:prstGeom prst="ellipse">
            <a:avLst/>
          </a:prstGeom>
          <a:solidFill>
            <a:srgbClr val="007C5E"/>
          </a:solidFill>
          <a:ln w="12700">
            <a:solidFill>
              <a:srgbClr val="007C5E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9594" y="1228954"/>
            <a:ext cx="285293" cy="285293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903720" y="10972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C5E"/>
                </a:solidFill>
              </a:rPr>
              <a:t>신규 포장장비 도입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6217920" y="182880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</a:rPr>
              <a:t>포장기 1라인 증설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</a:rPr>
              <a:t>패키지 변경 대응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172200" y="3246120"/>
            <a:ext cx="237744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CFE3DB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309360" y="333756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C5E"/>
                </a:solidFill>
              </a:rPr>
              <a:t>여러분에게는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포장 능력 확대 · 출하 일정 안정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B6B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365760" y="54864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공무팀에 일을 요청하는 법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8686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C5E"/>
                </a:solidFill>
              </a:rPr>
              <a:t>요청서에 꼭 들어갈 5가지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389888"/>
            <a:ext cx="384048" cy="384048"/>
          </a:xfrm>
          <a:prstGeom prst="ellipse">
            <a:avLst/>
          </a:prstGeom>
          <a:solidFill>
            <a:srgbClr val="007C5E"/>
          </a:solidFill>
          <a:ln w="12700">
            <a:solidFill>
              <a:srgbClr val="007C5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65760" y="1389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325880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</a:rPr>
              <a:t>어디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1325880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5"/>
                </a:solidFill>
              </a:rPr>
              <a:t>위치 · 설비명 (예: 2층 포장실 3번 포장기)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993392"/>
            <a:ext cx="384048" cy="384048"/>
          </a:xfrm>
          <a:prstGeom prst="ellipse">
            <a:avLst/>
          </a:prstGeom>
          <a:solidFill>
            <a:srgbClr val="007C5E"/>
          </a:solidFill>
          <a:ln w="12700">
            <a:solidFill>
              <a:srgbClr val="007C5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5760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1929384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</a:rPr>
              <a:t>무엇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874520" y="1929384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5"/>
                </a:solidFill>
              </a:rPr>
              <a:t>증상 (소리·냄새·누수·에러코드)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596896"/>
            <a:ext cx="384048" cy="384048"/>
          </a:xfrm>
          <a:prstGeom prst="ellipse">
            <a:avLst/>
          </a:prstGeom>
          <a:solidFill>
            <a:srgbClr val="007C5E"/>
          </a:solidFill>
          <a:ln w="12700">
            <a:solidFill>
              <a:srgbClr val="007C5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5760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2532888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</a:rPr>
              <a:t>언제부터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874520" y="2532888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5"/>
                </a:solidFill>
              </a:rPr>
              <a:t>발생 시각 · 반복 여부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200400"/>
            <a:ext cx="384048" cy="384048"/>
          </a:xfrm>
          <a:prstGeom prst="ellipse">
            <a:avLst/>
          </a:prstGeom>
          <a:solidFill>
            <a:srgbClr val="007C5E"/>
          </a:solidFill>
          <a:ln w="12700">
            <a:solidFill>
              <a:srgbClr val="007C5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6576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3136392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</a:rPr>
              <a:t>사진·영상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874520" y="3136392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5"/>
                </a:solidFill>
              </a:rPr>
              <a:t>현장 상태 그대로 촬영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803904"/>
            <a:ext cx="384048" cy="384048"/>
          </a:xfrm>
          <a:prstGeom prst="ellipse">
            <a:avLst/>
          </a:prstGeom>
          <a:solidFill>
            <a:srgbClr val="007C5E"/>
          </a:solidFill>
          <a:ln w="12700">
            <a:solidFill>
              <a:srgbClr val="007C5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65760" y="3803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3739896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</a:rPr>
              <a:t>영향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874520" y="3739896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5"/>
                </a:solidFill>
              </a:rPr>
              <a:t>생산 정지 여부 · 긴급도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937760" y="868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C5E"/>
                </a:solidFill>
              </a:rPr>
              <a:t>긴급도 기준</a:t>
            </a:r>
            <a:endParaRPr lang="en-US" sz="1400" dirty="0"/>
          </a:p>
        </p:txBody>
      </p:sp>
      <p:sp>
        <p:nvSpPr>
          <p:cNvPr id="25" name="priority-1"/>
          <p:cNvSpPr/>
          <p:nvPr/>
        </p:nvSpPr>
        <p:spPr>
          <a:xfrm>
            <a:off x="4937760" y="1325880"/>
            <a:ext cx="3840480" cy="896112"/>
          </a:xfrm>
          <a:prstGeom prst="roundRect">
            <a:avLst>
              <a:gd name="adj" fmla="val 8163"/>
            </a:avLst>
          </a:prstGeom>
          <a:solidFill>
            <a:srgbClr val="FBECEA"/>
          </a:solidFill>
          <a:ln w="12700">
            <a:solidFill>
              <a:srgbClr val="FBEC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74920" y="1545336"/>
            <a:ext cx="731520" cy="457200"/>
          </a:xfrm>
          <a:prstGeom prst="roundRect">
            <a:avLst>
              <a:gd name="adj" fmla="val 12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074920" y="1545336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긴급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943600" y="141732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안전 위험 · 생산 정지 · 제품 손실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B65"/>
                </a:solidFill>
              </a:rPr>
              <a:t>→ 즉시 전화 (서류는 나중에)</a:t>
            </a:r>
            <a:endParaRPr lang="en-US" sz="1100" dirty="0"/>
          </a:p>
        </p:txBody>
      </p:sp>
      <p:sp>
        <p:nvSpPr>
          <p:cNvPr id="29" name="priority-2"/>
          <p:cNvSpPr/>
          <p:nvPr/>
        </p:nvSpPr>
        <p:spPr>
          <a:xfrm>
            <a:off x="4937760" y="2350008"/>
            <a:ext cx="3840480" cy="896112"/>
          </a:xfrm>
          <a:prstGeom prst="roundRect">
            <a:avLst>
              <a:gd name="adj" fmla="val 8163"/>
            </a:avLst>
          </a:prstGeom>
          <a:solidFill>
            <a:srgbClr val="E8F3EF"/>
          </a:solidFill>
          <a:ln w="12700">
            <a:solidFill>
              <a:srgbClr val="E8F3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74920" y="2569464"/>
            <a:ext cx="731520" cy="457200"/>
          </a:xfrm>
          <a:prstGeom prst="roundRect">
            <a:avLst>
              <a:gd name="adj" fmla="val 12000"/>
            </a:avLst>
          </a:prstGeom>
          <a:solidFill>
            <a:srgbClr val="007C5E"/>
          </a:solidFill>
          <a:ln w="12700">
            <a:solidFill>
              <a:srgbClr val="007C5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074920" y="2569464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일반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943600" y="244144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고장이지만 생산은 가능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B65"/>
                </a:solidFill>
              </a:rPr>
              <a:t>→ 작업요청 접수 → 일정 협의</a:t>
            </a:r>
            <a:endParaRPr lang="en-US" sz="1100" dirty="0"/>
          </a:p>
        </p:txBody>
      </p:sp>
      <p:sp>
        <p:nvSpPr>
          <p:cNvPr id="33" name="priority-3"/>
          <p:cNvSpPr/>
          <p:nvPr/>
        </p:nvSpPr>
        <p:spPr>
          <a:xfrm>
            <a:off x="4937760" y="3374136"/>
            <a:ext cx="3840480" cy="896112"/>
          </a:xfrm>
          <a:prstGeom prst="roundRect">
            <a:avLst>
              <a:gd name="adj" fmla="val 8163"/>
            </a:avLst>
          </a:prstGeom>
          <a:solidFill>
            <a:srgbClr val="EEF1F0"/>
          </a:solidFill>
          <a:ln w="12700">
            <a:solidFill>
              <a:srgbClr val="EEF1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74920" y="3593592"/>
            <a:ext cx="731520" cy="457200"/>
          </a:xfrm>
          <a:prstGeom prst="roundRect">
            <a:avLst>
              <a:gd name="adj" fmla="val 12000"/>
            </a:avLst>
          </a:prstGeom>
          <a:solidFill>
            <a:srgbClr val="5B6B65"/>
          </a:solidFill>
          <a:ln w="12700">
            <a:solidFill>
              <a:srgbClr val="5B6B6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074920" y="359359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계획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5943600" y="346557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개선 · 신규 설비 · 공사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B65"/>
                </a:solidFill>
              </a:rPr>
              <a:t>→ 사전 협의 → 견적·품의 (수 주 소요)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365760" y="44348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C5E"/>
                </a:solidFill>
              </a:rPr>
              <a:t>구두 요청만 하면 누락될 수 있습니다 — 긴급 건도 조치 후 반드시 요청서로 기록을 남겨 주세요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B6B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365760" y="54864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이럴 땐 바로 전화 — 긴급 상황 첫 조치</a:t>
            </a:r>
            <a:endParaRPr lang="en-US" sz="2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56692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788920"/>
                <a:gridCol w="13258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상황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C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여러분의 첫 조치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C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연락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C5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설비 스위치 OFF, 임의 재가동 금지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공무팀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창고 온도 알람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 닫힘 확인, 문 개방 중단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공무팀 · 품질팀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가스 냄새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불꽃·전기 스위치 조작 금지 → 환기 · 대피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공무팀 · 119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누수 · 배관 파손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주변 전기기기 접근 금지, 제품 이동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공무팀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설비 연기·탄 냄새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비상정지 → 접근 통제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공무팀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화재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"불이야" · 비상벨 → 대피 → 119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소방안전관리자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emergency-rule"/>
          <p:cNvSpPr/>
          <p:nvPr/>
        </p:nvSpPr>
        <p:spPr>
          <a:xfrm>
            <a:off x="6263640" y="914400"/>
            <a:ext cx="2514600" cy="3200400"/>
          </a:xfrm>
          <a:prstGeom prst="roundRect">
            <a:avLst>
              <a:gd name="adj" fmla="val 2909"/>
            </a:avLst>
          </a:prstGeom>
          <a:solidFill>
            <a:srgbClr val="FBECEA"/>
          </a:solidFill>
          <a:ln w="12700">
            <a:solidFill>
              <a:srgbClr val="FBECE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178040" y="1097280"/>
            <a:ext cx="640080" cy="6400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1659" y="1250899"/>
            <a:ext cx="332842" cy="33284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355080" y="18288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392B"/>
                </a:solidFill>
              </a:rPr>
              <a:t>5분 내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C0392B"/>
                </a:solidFill>
              </a:rPr>
              <a:t>1차 보고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6446520" y="274320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</a:rPr>
              <a:t>전화가 먼저, 사진은 그다음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</a:rPr>
              <a:t>직접 고치려 하지 않기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</a:rPr>
              <a:t>가스·감전 현장 진입 금지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365760" y="42519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5"/>
                </a:solidFill>
              </a:rPr>
              <a:t>비상연락망 · 소화기 · 비상구 위치는 입사 첫 주에 내 근무 구역 기준으로 직접 확인해 두세요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B6B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365760" y="54864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현장에서 함께 지킬 것 — 해 주세요 / 하지 마세요</a:t>
            </a:r>
            <a:endParaRPr lang="en-US" sz="2000" dirty="0"/>
          </a:p>
        </p:txBody>
      </p:sp>
      <p:sp>
        <p:nvSpPr>
          <p:cNvPr id="3" name="do"/>
          <p:cNvSpPr/>
          <p:nvPr/>
        </p:nvSpPr>
        <p:spPr>
          <a:xfrm>
            <a:off x="365760" y="914400"/>
            <a:ext cx="4114800" cy="3611880"/>
          </a:xfrm>
          <a:prstGeom prst="roundRect">
            <a:avLst>
              <a:gd name="adj" fmla="val 2025"/>
            </a:avLst>
          </a:prstGeom>
          <a:solidFill>
            <a:srgbClr val="E8F3EF"/>
          </a:solidFill>
          <a:ln w="12700">
            <a:solidFill>
              <a:srgbClr val="E8F3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078992"/>
            <a:ext cx="457200" cy="457200"/>
          </a:xfrm>
          <a:prstGeom prst="ellipse">
            <a:avLst/>
          </a:prstGeom>
          <a:solidFill>
            <a:srgbClr val="007C5E"/>
          </a:solidFill>
          <a:ln w="12700">
            <a:solidFill>
              <a:srgbClr val="007C5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188720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43000" y="10789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C5E"/>
                </a:solidFill>
              </a:rPr>
              <a:t>해 주세요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1737360"/>
            <a:ext cx="3749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이상 소음·냄새·누수 → 즉시 신고</a:t>
            </a:r>
            <a:endParaRPr lang="en-US" sz="1400" dirty="0"/>
          </a:p>
          <a:p>
            <a:pPr marL="152400" indent="-1524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비상구 · 소화기 · 분전반 앞 비워두기</a:t>
            </a:r>
            <a:endParaRPr lang="en-US" sz="1400" dirty="0"/>
          </a:p>
          <a:p>
            <a:pPr marL="152400" indent="-1524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냉장·냉동창고 문 바로 닫기</a:t>
            </a:r>
            <a:endParaRPr lang="en-US" sz="1400" dirty="0"/>
          </a:p>
          <a:p>
            <a:pPr marL="152400" indent="-1524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"쉬익" 공기 새는 소리 → 신고</a:t>
            </a:r>
            <a:endParaRPr lang="en-US" sz="1400" dirty="0"/>
          </a:p>
          <a:p>
            <a:pPr marL="152400" indent="-1524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세척 전 해당 설비 전원 차단 확인</a:t>
            </a:r>
            <a:endParaRPr lang="en-US" sz="1400" dirty="0"/>
          </a:p>
        </p:txBody>
      </p:sp>
      <p:sp>
        <p:nvSpPr>
          <p:cNvPr id="8" name="dont"/>
          <p:cNvSpPr/>
          <p:nvPr/>
        </p:nvSpPr>
        <p:spPr>
          <a:xfrm>
            <a:off x="4663440" y="914400"/>
            <a:ext cx="4114800" cy="3611880"/>
          </a:xfrm>
          <a:prstGeom prst="roundRect">
            <a:avLst>
              <a:gd name="adj" fmla="val 2025"/>
            </a:avLst>
          </a:prstGeom>
          <a:solidFill>
            <a:srgbClr val="FBECEA"/>
          </a:solidFill>
          <a:ln w="12700">
            <a:solidFill>
              <a:srgbClr val="FBEC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46320" y="1078992"/>
            <a:ext cx="457200" cy="4572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1188720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40680" y="10789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</a:rPr>
              <a:t>하지 마세요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892040" y="1737360"/>
            <a:ext cx="3749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차단기 · 밸브 · 설비 설정 임의 조작</a:t>
            </a:r>
            <a:endParaRPr lang="en-US" sz="1400" dirty="0"/>
          </a:p>
          <a:p>
            <a:pPr marL="152400" indent="-1524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"정비 중 · 조작 금지" 표지·자물쇠 제거</a:t>
            </a:r>
            <a:endParaRPr lang="en-US" sz="1400" dirty="0"/>
          </a:p>
          <a:p>
            <a:pPr marL="152400" indent="-1524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제어반 · 콘센트에 직접 물 분사</a:t>
            </a:r>
            <a:endParaRPr lang="en-US" sz="1400" dirty="0"/>
          </a:p>
          <a:p>
            <a:pPr marL="152400" indent="-1524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방호덮개 · 안전센서 해제·우회</a:t>
            </a:r>
            <a:endParaRPr lang="en-US" sz="1400" dirty="0"/>
          </a:p>
          <a:p>
            <a:pPr marL="152400" indent="-1524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</a:rPr>
              <a:t>승인 없는 전열기 · 문어발 콘센트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B6B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365760" y="54864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공무팀이 생산구역에서 작업할 때 — HACCP 협조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8686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공무팀 작업이 이물 혼입·오염의 원인이 되지 않도록 세 단계로 관리합니다</a:t>
            </a:r>
            <a:endParaRPr lang="en-US" sz="1300" dirty="0"/>
          </a:p>
        </p:txBody>
      </p:sp>
      <p:sp>
        <p:nvSpPr>
          <p:cNvPr id="4" name="haccp-1"/>
          <p:cNvSpPr/>
          <p:nvPr/>
        </p:nvSpPr>
        <p:spPr>
          <a:xfrm>
            <a:off x="365760" y="1371600"/>
            <a:ext cx="2651760" cy="3154680"/>
          </a:xfrm>
          <a:prstGeom prst="roundRect">
            <a:avLst>
              <a:gd name="adj" fmla="val 2759"/>
            </a:avLst>
          </a:prstGeom>
          <a:solidFill>
            <a:srgbClr val="E8F3EF"/>
          </a:solidFill>
          <a:ln w="12700">
            <a:solidFill>
              <a:srgbClr val="E8F3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36192"/>
            <a:ext cx="457200" cy="457200"/>
          </a:xfrm>
          <a:prstGeom prst="ellipse">
            <a:avLst/>
          </a:prstGeom>
          <a:solidFill>
            <a:srgbClr val="007C5E"/>
          </a:solidFill>
          <a:ln w="12700">
            <a:solidFill>
              <a:srgbClr val="007C5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53619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C5E"/>
                </a:solidFill>
              </a:rPr>
              <a:t>작업 전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14884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</a:rPr>
              <a:t>작업 시간·구역 생산팀과 협의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</a:rPr>
              <a:t>위생복·에어샤워 후 출입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</a:rPr>
              <a:t>공구 반입 수량 기록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3566160"/>
            <a:ext cx="2377440" cy="822960"/>
          </a:xfrm>
          <a:prstGeom prst="roundRect">
            <a:avLst>
              <a:gd name="adj" fmla="val 6667"/>
            </a:avLst>
          </a:prstGeom>
          <a:solidFill>
            <a:srgbClr val="007C5E"/>
          </a:solidFill>
          <a:ln w="12700">
            <a:solidFill>
              <a:srgbClr val="007C5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5661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여러분 협조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작업 일정 협의에 응해 주세요</a:t>
            </a:r>
            <a:endParaRPr lang="en-US" sz="1200" dirty="0"/>
          </a:p>
        </p:txBody>
      </p:sp>
      <p:sp>
        <p:nvSpPr>
          <p:cNvPr id="11" name="haccp-2"/>
          <p:cNvSpPr/>
          <p:nvPr/>
        </p:nvSpPr>
        <p:spPr>
          <a:xfrm>
            <a:off x="3200400" y="1371600"/>
            <a:ext cx="2651760" cy="3154680"/>
          </a:xfrm>
          <a:prstGeom prst="roundRect">
            <a:avLst>
              <a:gd name="adj" fmla="val 2759"/>
            </a:avLst>
          </a:prstGeom>
          <a:solidFill>
            <a:srgbClr val="E8F3EF"/>
          </a:solidFill>
          <a:ln w="12700">
            <a:solidFill>
              <a:srgbClr val="E8F3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1536192"/>
            <a:ext cx="457200" cy="457200"/>
          </a:xfrm>
          <a:prstGeom prst="ellipse">
            <a:avLst/>
          </a:prstGeom>
          <a:solidFill>
            <a:srgbClr val="007C5E"/>
          </a:solidFill>
          <a:ln w="12700">
            <a:solidFill>
              <a:srgbClr val="007C5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83280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977640" y="153619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C5E"/>
                </a:solidFill>
              </a:rPr>
              <a:t>작업 중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383280" y="214884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</a:rPr>
              <a:t>비닐 차폐 · 제품 이동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</a:rPr>
              <a:t>식품등급(H1) 윤활유만 사용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</a:rPr>
              <a:t>볼트·피복 잔재 즉시 회수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37560" y="3566160"/>
            <a:ext cx="2377440" cy="822960"/>
          </a:xfrm>
          <a:prstGeom prst="roundRect">
            <a:avLst>
              <a:gd name="adj" fmla="val 6667"/>
            </a:avLst>
          </a:prstGeom>
          <a:solidFill>
            <a:srgbClr val="007C5E"/>
          </a:solidFill>
          <a:ln w="12700">
            <a:solidFill>
              <a:srgbClr val="007C5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74720" y="35661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여러분 협조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차폐 구역 출입 자제</a:t>
            </a:r>
            <a:endParaRPr lang="en-US" sz="1200" dirty="0"/>
          </a:p>
        </p:txBody>
      </p:sp>
      <p:sp>
        <p:nvSpPr>
          <p:cNvPr id="18" name="haccp-3"/>
          <p:cNvSpPr/>
          <p:nvPr/>
        </p:nvSpPr>
        <p:spPr>
          <a:xfrm>
            <a:off x="6035040" y="1371600"/>
            <a:ext cx="2651760" cy="3154680"/>
          </a:xfrm>
          <a:prstGeom prst="roundRect">
            <a:avLst>
              <a:gd name="adj" fmla="val 2759"/>
            </a:avLst>
          </a:prstGeom>
          <a:solidFill>
            <a:srgbClr val="E8F3EF"/>
          </a:solidFill>
          <a:ln w="12700">
            <a:solidFill>
              <a:srgbClr val="E8F3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1536192"/>
            <a:ext cx="457200" cy="457200"/>
          </a:xfrm>
          <a:prstGeom prst="ellipse">
            <a:avLst/>
          </a:prstGeom>
          <a:solidFill>
            <a:srgbClr val="007C5E"/>
          </a:solidFill>
          <a:ln w="12700">
            <a:solidFill>
              <a:srgbClr val="007C5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17920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812280" y="153619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C5E"/>
                </a:solidFill>
              </a:rPr>
              <a:t>작업 후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0" y="214884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</a:rPr>
              <a:t>공구 반출 = 반입 수량 확인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</a:rPr>
              <a:t>청소 · 이물 제거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</a:rPr>
              <a:t>생산·품질 확인 후 라인 인계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72200" y="3566160"/>
            <a:ext cx="2377440" cy="822960"/>
          </a:xfrm>
          <a:prstGeom prst="roundRect">
            <a:avLst>
              <a:gd name="adj" fmla="val 6667"/>
            </a:avLst>
          </a:prstGeom>
          <a:solidFill>
            <a:srgbClr val="007C5E"/>
          </a:solidFill>
          <a:ln w="12700">
            <a:solidFill>
              <a:srgbClr val="007C5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09360" y="35661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여러분 협조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확인 전 라인 재가동 금지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B6B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365760" y="54864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에너지 절감 — 작은 습관이 공장 원가를 줄입니다</a:t>
            </a:r>
            <a:endParaRPr lang="en-US" sz="2000" dirty="0"/>
          </a:p>
        </p:txBody>
      </p:sp>
      <p:sp>
        <p:nvSpPr>
          <p:cNvPr id="3" name="energy-1"/>
          <p:cNvSpPr/>
          <p:nvPr/>
        </p:nvSpPr>
        <p:spPr>
          <a:xfrm>
            <a:off x="365760" y="914400"/>
            <a:ext cx="4114800" cy="1417320"/>
          </a:xfrm>
          <a:prstGeom prst="roundRect">
            <a:avLst>
              <a:gd name="adj" fmla="val 5161"/>
            </a:avLst>
          </a:prstGeom>
          <a:solidFill>
            <a:srgbClr val="E8F3EF"/>
          </a:solidFill>
          <a:ln w="12700">
            <a:solidFill>
              <a:srgbClr val="E8F3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298448"/>
            <a:ext cx="640080" cy="640080"/>
          </a:xfrm>
          <a:prstGeom prst="ellipse">
            <a:avLst/>
          </a:prstGeom>
          <a:solidFill>
            <a:srgbClr val="007C5E"/>
          </a:solidFill>
          <a:ln w="12700">
            <a:solidFill>
              <a:srgbClr val="007C5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979" y="1452067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0789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C5E"/>
                </a:solidFill>
              </a:rPr>
              <a:t>압축공기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146304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공기 새는 소리는 곧 전기요금 — 에어건·호스 누설 발견 시 신고, 사용 후 밸브 닫기</a:t>
            </a:r>
            <a:endParaRPr lang="en-US" sz="1100" dirty="0"/>
          </a:p>
        </p:txBody>
      </p:sp>
      <p:sp>
        <p:nvSpPr>
          <p:cNvPr id="8" name="energy-2"/>
          <p:cNvSpPr/>
          <p:nvPr/>
        </p:nvSpPr>
        <p:spPr>
          <a:xfrm>
            <a:off x="4663440" y="914400"/>
            <a:ext cx="4114800" cy="1417320"/>
          </a:xfrm>
          <a:prstGeom prst="roundRect">
            <a:avLst>
              <a:gd name="adj" fmla="val 5161"/>
            </a:avLst>
          </a:prstGeom>
          <a:solidFill>
            <a:srgbClr val="E8F3EF"/>
          </a:solidFill>
          <a:ln w="12700">
            <a:solidFill>
              <a:srgbClr val="E8F3E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92040" y="1298448"/>
            <a:ext cx="640080" cy="640080"/>
          </a:xfrm>
          <a:prstGeom prst="ellipse">
            <a:avLst/>
          </a:prstGeom>
          <a:solidFill>
            <a:srgbClr val="007C5E"/>
          </a:solidFill>
          <a:ln w="12700">
            <a:solidFill>
              <a:srgbClr val="007C5E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5659" y="1452067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60720" y="10789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C5E"/>
                </a:solidFill>
              </a:rPr>
              <a:t>냉장·냉동창고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5760720" y="146304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문 열린 시간만큼 냉동기 부하 증가 — 출입 후 즉시 닫기, 문 고장 즉시 신고</a:t>
            </a:r>
            <a:endParaRPr lang="en-US" sz="1100" dirty="0"/>
          </a:p>
        </p:txBody>
      </p:sp>
      <p:sp>
        <p:nvSpPr>
          <p:cNvPr id="13" name="energy-3"/>
          <p:cNvSpPr/>
          <p:nvPr/>
        </p:nvSpPr>
        <p:spPr>
          <a:xfrm>
            <a:off x="365760" y="2514600"/>
            <a:ext cx="4114800" cy="1417320"/>
          </a:xfrm>
          <a:prstGeom prst="roundRect">
            <a:avLst>
              <a:gd name="adj" fmla="val 5161"/>
            </a:avLst>
          </a:prstGeom>
          <a:solidFill>
            <a:srgbClr val="E8F3EF"/>
          </a:solidFill>
          <a:ln w="12700">
            <a:solidFill>
              <a:srgbClr val="E8F3E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94360" y="2898648"/>
            <a:ext cx="640080" cy="640080"/>
          </a:xfrm>
          <a:prstGeom prst="ellipse">
            <a:avLst/>
          </a:prstGeom>
          <a:solidFill>
            <a:srgbClr val="007C5E"/>
          </a:solidFill>
          <a:ln w="12700">
            <a:solidFill>
              <a:srgbClr val="007C5E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979" y="3052267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63040" y="26791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C5E"/>
                </a:solidFill>
              </a:rPr>
              <a:t>냉난방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1463040" y="306324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적정 온도 유지, 창문·문 열고 냉난방 가동 금지</a:t>
            </a:r>
            <a:endParaRPr lang="en-US" sz="1100" dirty="0"/>
          </a:p>
        </p:txBody>
      </p:sp>
      <p:sp>
        <p:nvSpPr>
          <p:cNvPr id="18" name="energy-4"/>
          <p:cNvSpPr/>
          <p:nvPr/>
        </p:nvSpPr>
        <p:spPr>
          <a:xfrm>
            <a:off x="4663440" y="2514600"/>
            <a:ext cx="4114800" cy="1417320"/>
          </a:xfrm>
          <a:prstGeom prst="roundRect">
            <a:avLst>
              <a:gd name="adj" fmla="val 5161"/>
            </a:avLst>
          </a:prstGeom>
          <a:solidFill>
            <a:srgbClr val="E8F3EF"/>
          </a:solidFill>
          <a:ln w="12700">
            <a:solidFill>
              <a:srgbClr val="E8F3E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892040" y="2898648"/>
            <a:ext cx="640080" cy="640080"/>
          </a:xfrm>
          <a:prstGeom prst="ellipse">
            <a:avLst/>
          </a:prstGeom>
          <a:solidFill>
            <a:srgbClr val="007C5E"/>
          </a:solidFill>
          <a:ln w="12700">
            <a:solidFill>
              <a:srgbClr val="007C5E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5659" y="3052267"/>
            <a:ext cx="332842" cy="33284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760720" y="26791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C5E"/>
                </a:solidFill>
              </a:rPr>
              <a:t>조명 · 대기전력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5760720" y="306324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빈 공간 소등, 퇴근 시 PC·전열기 전원 OFF</a:t>
            </a:r>
            <a:endParaRPr lang="en-US" sz="1100" dirty="0"/>
          </a:p>
        </p:txBody>
      </p:sp>
      <p:sp>
        <p:nvSpPr>
          <p:cNvPr id="23" name="Text 17"/>
          <p:cNvSpPr txBox="1"/>
          <p:nvPr/>
        </p:nvSpPr>
        <p:spPr>
          <a:xfrm>
            <a:off x="365760" y="4206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5"/>
                </a:solidFill>
              </a:rPr>
              <a:t>공무팀은 에어컴프레서·피크전력 관리로 운영비 절감을 추진 중 — 현장의 신고가 가장 빠른 절감 수단입니다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B6B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이것만 기억하세요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2514600"/>
            <a:ext cx="24688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2606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7C5E"/>
                </a:solidFill>
              </a:rPr>
              <a:t>1. 만지지 않는다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0632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설비·차단기·밸브는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공무팀에 맡기기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337560" y="2514600"/>
            <a:ext cx="24688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2606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7C5E"/>
                </a:solidFill>
              </a:rPr>
              <a:t>2. 5분 안에 알린다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30632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이상 발견 즉시 전화,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기록은 그다음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35040" y="2514600"/>
            <a:ext cx="24688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26480" y="2606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7C5E"/>
                </a:solidFill>
              </a:rPr>
              <a:t>3. 비워 둔다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126480" y="30632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비상구·소화기·분전반 앞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항상 비워 두기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Q &amp; A   |   성남공장 공무팀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weet Balance">
  <a:themeElements>
    <a:clrScheme name="Sweet Balance">
      <a:dk1>
        <a:srgbClr val="212121"/>
      </a:dk1>
      <a:lt1>
        <a:srgbClr val="FFFFFF"/>
      </a:lt1>
      <a:dk2>
        <a:srgbClr val="007C5E"/>
      </a:dk2>
      <a:lt2>
        <a:srgbClr val="E8F3EF"/>
      </a:lt2>
      <a:accent1>
        <a:srgbClr val="007C5E"/>
      </a:accent1>
      <a:accent2>
        <a:srgbClr val="2E9C7E"/>
      </a:accent2>
      <a:accent3>
        <a:srgbClr val="5B6B65"/>
      </a:accent3>
      <a:accent4>
        <a:srgbClr val="C0392B"/>
      </a:accent4>
      <a:accent5>
        <a:srgbClr val="7FBFAE"/>
      </a:accent5>
      <a:accent6>
        <a:srgbClr val="B8DCD0"/>
      </a:accent6>
      <a:hlink>
        <a:srgbClr val="007C5E"/>
      </a:hlink>
      <a:folHlink>
        <a:srgbClr val="5B6B65"/>
      </a:folHlink>
    </a:clrScheme>
    <a:fontScheme name="Sweet Balan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공무팀 소개 — 타부서 신입사원 온보딩</dc:title>
  <dc:subject>PptxGenJS Presentation</dc:subject>
  <dc:creator>성남공장 공무팀</dc:creator>
  <cp:lastModifiedBy>성남공장 공무팀</cp:lastModifiedBy>
  <cp:revision>1</cp:revision>
  <dcterms:created xsi:type="dcterms:W3CDTF">2026-10-13T01:18:39Z</dcterms:created>
  <dcterms:modified xsi:type="dcterms:W3CDTF">2026-10-13T01:18:39Z</dcterms:modified>
</cp:coreProperties>
</file>